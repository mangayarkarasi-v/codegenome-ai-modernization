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rgbClr val="FF36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362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B4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C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C85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High</c:v>
                  </c:pt>
                  <c:pt idx="1">
                    <c:v>Medium</c:v>
                  </c:pt>
                  <c:pt idx="2">
                    <c:v>Low</c:v>
                  </c:pt>
                  <c:pt idx="3">
                    <c:v>Minimal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58</c:v>
                </c:pt>
                <c:pt idx="2">
                  <c:v>97</c:v>
                </c:pt>
                <c:pt idx="3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B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B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84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Readiness %</c:v>
                </c:pt>
              </c:strCache>
            </c:strRef>
          </c:tx>
          <c:spPr>
            <a:solidFill>
              <a:srgbClr val="00B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C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C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C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C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CD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COBOL</c:v>
                  </c:pt>
                  <c:pt idx="1">
                    <c:v>JCL</c:v>
                  </c:pt>
                  <c:pt idx="2">
                    <c:v>DB2</c:v>
                  </c:pt>
                  <c:pt idx="3">
                    <c:v>MQ</c:v>
                  </c:pt>
                  <c:pt idx="4">
                    <c:v>IMS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70</c:v>
                </c:pt>
                <c:pt idx="2">
                  <c:v>80</c:v>
                </c:pt>
                <c:pt idx="3">
                  <c:v>60</c:v>
                </c:pt>
                <c:pt idx="4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B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B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84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32847">
              <a:alpha val="50000"/>
            </a:srgbClr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132847">
              <a:alpha val="40000"/>
            </a:srgbClr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320040"/>
            <a:ext cx="2926080" cy="32004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20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DATABRICKS HACKATHON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CodeGenome AI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Intelligence Hub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3657600" cy="27432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80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FF8"/>
                </a:solidFill>
              </a:rPr>
              <a:t>AI-Powered Enterprise Mainframe Modernization Governance Platform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BC8"/>
                </a:solidFill>
              </a:rPr>
              <a:t>"Decoding Enterprise Legacy Systems with AI"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840480"/>
            <a:ext cx="4754880" cy="10058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840480"/>
            <a:ext cx="54864" cy="10058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1363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Team: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CodeGenome Innovators
</a:t>
            </a:r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Members:  </a:t>
            </a:r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Mangayarkarasi Venkatachalam  |  Johar Ali Shaik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391363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A356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391363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</a:rPr>
              <a:t>Databricks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20840" y="391363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A356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91363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</a:rPr>
              <a:t>GenAI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863840" y="391363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A356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391363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</a:rPr>
              <a:t>Streamlit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77840" y="432511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A356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432511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</a:rPr>
              <a:t>Delta Lake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20840" y="432511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A3560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32511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CD4"/>
                </a:solidFill>
              </a:rPr>
              <a:t>Governance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32847"/>
          </a:solidFill>
          <a:ln w="19050">
            <a:solidFill>
              <a:srgbClr val="FF3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3621"/>
                </a:solidFill>
              </a:rPr>
              <a:t>THE CHALLENGE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Legacy Modernization Challenges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14800" cy="347472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54864" cy="347472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Large enterprises rely on legacy ecosystems built on COBOL, JCL, DB2, IMS, MQ, and batch processing frameworks — systems that are decades old and increasingly costly to maintain.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4871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</a:rPr>
              <a:t>Limited dependency visibility across programs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5292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8254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</a:rPr>
              <a:t>Manual impact analysis — weeks per assessment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9125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1638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</a:rPr>
              <a:t>Complex MQ / IMS integration flows undocumented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29584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7240" y="35021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</a:rPr>
              <a:t>Governance and operational risk accumulation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67912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7240" y="38404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</a:rPr>
              <a:t>No modernization intelligence or AI scoring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206240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77240" y="4178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8"/>
                </a:solidFill>
              </a:rPr>
              <a:t>Delays in cloud / API-first transformation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4846320" y="1261872"/>
            <a:ext cx="393192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FF36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14"/>
          <p:cNvSpPr/>
          <p:nvPr/>
        </p:nvSpPr>
        <p:spPr>
          <a:xfrm>
            <a:off x="5029200" y="13716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3621"/>
                </a:solidFill>
              </a:rPr>
              <a:t>71%</a:t>
            </a:r>
            <a:endParaRPr lang="en-US" sz="3600" dirty="0"/>
          </a:p>
        </p:txBody>
      </p:sp>
      <p:sp>
        <p:nvSpPr>
          <p:cNvPr id="23" name="Shape 15"/>
          <p:cNvSpPr/>
          <p:nvPr/>
        </p:nvSpPr>
        <p:spPr>
          <a:xfrm>
            <a:off x="6446520" y="1426464"/>
            <a:ext cx="22860" cy="68580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583680" y="139903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of enterprises still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run COBOL in production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846320" y="2450592"/>
            <a:ext cx="393192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5029200" y="256032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CD4"/>
                </a:solidFill>
              </a:rPr>
              <a:t>8–12</a:t>
            </a:r>
            <a:endParaRPr lang="en-US" sz="3600" dirty="0"/>
          </a:p>
        </p:txBody>
      </p:sp>
      <p:sp>
        <p:nvSpPr>
          <p:cNvPr id="27" name="Shape 19"/>
          <p:cNvSpPr/>
          <p:nvPr/>
        </p:nvSpPr>
        <p:spPr>
          <a:xfrm>
            <a:off x="6446520" y="2615184"/>
            <a:ext cx="22860" cy="68580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6583680" y="258775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months avg. manual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modernization assessment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846320" y="3639312"/>
            <a:ext cx="393192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FFB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5029200" y="3749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400"/>
                </a:solidFill>
              </a:rPr>
              <a:t>$330B</a:t>
            </a:r>
            <a:endParaRPr lang="en-US" sz="3600" dirty="0"/>
          </a:p>
        </p:txBody>
      </p:sp>
      <p:sp>
        <p:nvSpPr>
          <p:cNvPr id="31" name="Shape 23"/>
          <p:cNvSpPr/>
          <p:nvPr/>
        </p:nvSpPr>
        <p:spPr>
          <a:xfrm>
            <a:off x="6446520" y="3803904"/>
            <a:ext cx="22860" cy="68580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583680" y="377647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annual COBOL maintenance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cost globally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BCD4"/>
                </a:solidFill>
              </a:rPr>
              <a:t>Organizations need an AI-powered modernization governance platform to automate assessment, dependency intelligence, and enterprise risk visibility.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32847"/>
          </a:solidFill>
          <a:ln w="19050">
            <a:solidFill>
              <a:srgbClr val="FF3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3621"/>
                </a:solidFill>
              </a:rPr>
              <a:t>OUR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CodeGenome AI — Solution Overview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BCD4"/>
                </a:solidFill>
              </a:rPr>
              <a:t>An AI-driven modernization intelligence platform built on Databricks Lakehouse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2011680" cy="141732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83080"/>
            <a:ext cx="54864" cy="141732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6596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29768" y="2377440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Ingest Legacy Assets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9768" y="269748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COBOL, JCL, DB2, Copybooks, IMS, MQ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96312" y="1783080"/>
            <a:ext cx="2011680" cy="141732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96312" y="1783080"/>
            <a:ext cx="54864" cy="141732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192" y="196596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2377440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Dependency Extraction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606040" y="269748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Auto-map all program relationships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672584" y="1783080"/>
            <a:ext cx="2011680" cy="141732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72584" y="1783080"/>
            <a:ext cx="54864" cy="141732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196596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82312" y="2377440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DB2/MQ/IMS Lineage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782312" y="269748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Full CRUD + queue lineage mapping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848856" y="1783080"/>
            <a:ext cx="2011680" cy="141732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48856" y="1783080"/>
            <a:ext cx="54864" cy="141732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1965960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58584" y="2377440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JCL Orchestration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958584" y="269748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Batch flow + step sequencing analysis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20040" y="3337560"/>
            <a:ext cx="2011680" cy="141732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0040" y="3337560"/>
            <a:ext cx="54864" cy="1417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20440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29768" y="3931920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Modernization Scoring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429768" y="425196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AI readiness + risk classification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2496312" y="3337560"/>
            <a:ext cx="2011680" cy="141732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2496312" y="3337560"/>
            <a:ext cx="54864" cy="1417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9192" y="3520440"/>
            <a:ext cx="347472" cy="34747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606040" y="3931920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Risk Detection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2606040" y="425196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Migration blockers + escalations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4672584" y="3337560"/>
            <a:ext cx="2011680" cy="141732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4672584" y="3337560"/>
            <a:ext cx="54864" cy="1417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3520440"/>
            <a:ext cx="347472" cy="34747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782312" y="3931920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Governance Alerts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4782312" y="425196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Zabbix + Teams real-time alerts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6848856" y="3337560"/>
            <a:ext cx="2011680" cy="141732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6848856" y="3337560"/>
            <a:ext cx="54864" cy="1417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1736" y="3520440"/>
            <a:ext cx="347472" cy="347472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6958584" y="3931920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Conversational GenAI</a:t>
            </a:r>
            <a:endParaRPr lang="en-US" sz="1050" dirty="0"/>
          </a:p>
        </p:txBody>
      </p:sp>
      <p:sp>
        <p:nvSpPr>
          <p:cNvPr id="46" name="Text 36"/>
          <p:cNvSpPr/>
          <p:nvPr/>
        </p:nvSpPr>
        <p:spPr>
          <a:xfrm>
            <a:off x="6958584" y="425196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Natural language modernization Q&amp;A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32847"/>
          </a:solidFill>
          <a:ln w="19050">
            <a:solidFill>
              <a:srgbClr val="FF3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3621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CodeGenome AI — Enterprise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316736"/>
            <a:ext cx="411480" cy="411480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167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207008"/>
            <a:ext cx="8001000" cy="621792"/>
          </a:xfrm>
          <a:prstGeom prst="rect">
            <a:avLst/>
          </a:prstGeom>
          <a:solidFill>
            <a:srgbClr val="132847"/>
          </a:solidFill>
          <a:ln w="12700">
            <a:solidFill>
              <a:srgbClr val="FF36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207008"/>
            <a:ext cx="45720" cy="621792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2618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621"/>
                </a:solidFill>
              </a:rPr>
              <a:t>Mainframe Legacy Assets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52704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8"/>
                </a:solidFill>
              </a:rPr>
              <a:t>COBOL  ·  JCL  ·  DB2 SQL  ·  Copybooks  ·  CSV Files  ·  IMS  ·  MQ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1208" y="1828800"/>
            <a:ext cx="0" cy="128016"/>
          </a:xfrm>
          <a:prstGeom prst="line">
            <a:avLst/>
          </a:prstGeom>
          <a:noFill/>
          <a:ln w="19050">
            <a:solidFill>
              <a:srgbClr val="4A6B8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20040" y="2066544"/>
            <a:ext cx="411480" cy="4114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0665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1956816"/>
            <a:ext cx="8001000" cy="621792"/>
          </a:xfrm>
          <a:prstGeom prst="rect">
            <a:avLst/>
          </a:prstGeom>
          <a:solidFill>
            <a:srgbClr val="132847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1956816"/>
            <a:ext cx="45720" cy="6217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011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Databricks Lakehouse Platform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276856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8"/>
                </a:solidFill>
              </a:rPr>
              <a:t>Unity Catalog  ·  Delta Lake  ·  Delta Tables  ·  Databricks SQL  ·  Serverless Compute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1208" y="2578608"/>
            <a:ext cx="0" cy="128016"/>
          </a:xfrm>
          <a:prstGeom prst="line">
            <a:avLst/>
          </a:prstGeom>
          <a:noFill/>
          <a:ln w="19050">
            <a:solidFill>
              <a:srgbClr val="4A6B8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20040" y="2816352"/>
            <a:ext cx="411480" cy="41148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16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2706624"/>
            <a:ext cx="8001000" cy="621792"/>
          </a:xfrm>
          <a:prstGeom prst="rect">
            <a:avLst/>
          </a:prstGeom>
          <a:solidFill>
            <a:srgbClr val="132847"/>
          </a:solidFill>
          <a:ln w="12700">
            <a:solidFill>
              <a:srgbClr val="7C4D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2706624"/>
            <a:ext cx="45720" cy="62179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27614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FF"/>
                </a:solidFill>
              </a:rPr>
              <a:t>AI Metadata Extraction Engine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026664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8"/>
                </a:solidFill>
              </a:rPr>
              <a:t>Dependency Parsing  ·  DB2 CRUD Lineage  ·  JCL Flow Analysis  ·  Business Rule Identification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1208" y="3328416"/>
            <a:ext cx="0" cy="128016"/>
          </a:xfrm>
          <a:prstGeom prst="line">
            <a:avLst/>
          </a:prstGeom>
          <a:noFill/>
          <a:ln w="19050">
            <a:solidFill>
              <a:srgbClr val="4A6B8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20040" y="3566160"/>
            <a:ext cx="411480" cy="411480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" y="3456432"/>
            <a:ext cx="8001000" cy="621792"/>
          </a:xfrm>
          <a:prstGeom prst="rect">
            <a:avLst/>
          </a:prstGeom>
          <a:solidFill>
            <a:srgbClr val="132847"/>
          </a:solidFill>
          <a:ln w="12700">
            <a:solidFill>
              <a:srgbClr val="FFB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" y="3456432"/>
            <a:ext cx="45720" cy="62179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35112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400"/>
                </a:solidFill>
              </a:rPr>
              <a:t>Modernization Intelligence Layer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3776472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8"/>
                </a:solidFill>
              </a:rPr>
              <a:t>Readiness Scoring  ·  Impact Analysis  ·  Risk Classification  ·  Cloud/API Recommendations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21208" y="4078224"/>
            <a:ext cx="0" cy="128016"/>
          </a:xfrm>
          <a:prstGeom prst="line">
            <a:avLst/>
          </a:prstGeom>
          <a:noFill/>
          <a:ln w="19050">
            <a:solidFill>
              <a:srgbClr val="4A6B8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20040" y="4315968"/>
            <a:ext cx="411480" cy="41148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315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22960" y="4206240"/>
            <a:ext cx="8001000" cy="621792"/>
          </a:xfrm>
          <a:prstGeom prst="rect">
            <a:avLst/>
          </a:prstGeom>
          <a:solidFill>
            <a:srgbClr val="132847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2960" y="4206240"/>
            <a:ext cx="45720" cy="62179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42611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</a:rPr>
              <a:t>Executive AI Intelligence Hub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5840" y="452628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8"/>
                </a:solidFill>
              </a:rPr>
              <a:t>Dashboards  ·  AI Risk Alerts  ·  Streamlit UI  ·  Conversational AI  ·  Teams Notifications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32847"/>
          </a:solidFill>
          <a:ln w="19050">
            <a:solidFill>
              <a:srgbClr val="FF3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3621"/>
                </a:solidFill>
              </a:rPr>
              <a:t>TECH STACK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4069080" cy="7772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07008"/>
            <a:ext cx="54864" cy="7772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8988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8408" y="12984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BCD4"/>
                </a:solidFill>
              </a:rPr>
              <a:t>Data Platform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78408" y="15544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Databricks Lakehouse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207008"/>
            <a:ext cx="4069080" cy="7772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207008"/>
            <a:ext cx="54864" cy="77724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8988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1808" y="12984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3621"/>
                </a:solidFill>
              </a:rPr>
              <a:t>Storage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321808" y="15544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Delta Lake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20040" y="2121408"/>
            <a:ext cx="4069080" cy="7772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2121408"/>
            <a:ext cx="54864" cy="77724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0428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78408" y="22128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C4DFF"/>
                </a:solidFill>
              </a:rPr>
              <a:t>AI / GenAI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78408" y="24688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Genie AI / GenAI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663440" y="2121408"/>
            <a:ext cx="4069080" cy="7772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2121408"/>
            <a:ext cx="54864" cy="7772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0428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21808" y="22128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BCD4"/>
                </a:solidFill>
              </a:rPr>
              <a:t>Processing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321808" y="24688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  ·  Pandas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320040" y="3035808"/>
            <a:ext cx="4069080" cy="7772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" y="3035808"/>
            <a:ext cx="54864" cy="77724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18688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8408" y="31272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3621"/>
                </a:solidFill>
              </a:rPr>
              <a:t>Visualization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978408" y="33832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Plotly  ·  Dashboards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4663440" y="3035808"/>
            <a:ext cx="4069080" cy="7772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663440" y="3035808"/>
            <a:ext cx="54864" cy="7772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218688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21808" y="31272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BCD4"/>
                </a:solidFill>
              </a:rPr>
              <a:t>UI Layer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5321808" y="33832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Streamlit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320040" y="3950208"/>
            <a:ext cx="4069080" cy="7772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320040" y="3950208"/>
            <a:ext cx="54864" cy="77724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133088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978408" y="40416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B400"/>
                </a:solidFill>
              </a:rPr>
              <a:t>Governance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978408" y="42976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Zabbix + Teams + Power Automate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4663440" y="3950208"/>
            <a:ext cx="4069080" cy="7772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663440" y="3950208"/>
            <a:ext cx="54864" cy="7772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133088"/>
            <a:ext cx="347472" cy="34747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321808" y="40416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BCD4"/>
                </a:solidFill>
              </a:rPr>
              <a:t>Metadata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5321808" y="42976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Unity Catalog</a:t>
            </a:r>
            <a:endParaRPr lang="en-US" sz="1300" dirty="0"/>
          </a:p>
        </p:txBody>
      </p:sp>
      <p:sp>
        <p:nvSpPr>
          <p:cNvPr id="46" name="Shape 3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Text 37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BCD4"/>
                </a:solidFill>
              </a:rPr>
              <a:t>Built entirely on the Databricks ecosystem with enterprise governance integrations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32847"/>
          </a:solidFill>
          <a:ln w="19050">
            <a:solidFill>
              <a:srgbClr val="FF3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3621"/>
                </a:solidFill>
              </a:rPr>
              <a:t>CORE CAPABILITY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Legacy Asset Intelligence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023360" cy="356616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54864" cy="356616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3621"/>
                </a:solidFill>
              </a:rPr>
              <a:t>SUPPORTED ENTERPRISE ASSETS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7830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1248" y="1764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COBOL Programs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1248" y="19476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Business logic &amp; rule extraction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2860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" y="22677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JCL Workflows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41248" y="24505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Batch scheduling &amp; orchestration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7889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" y="27706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DB2 SQL Scripts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41248" y="295351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CRUD lineage &amp; table dependencies</a:t>
            </a:r>
            <a:endParaRPr lang="en-US" sz="9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2918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1248" y="32735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MQ Queue Integrations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841248" y="34564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Message flow &amp; queue lineage</a:t>
            </a:r>
            <a:endParaRPr lang="en-US" sz="9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79476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41248" y="37764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IMS Transactions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841248" y="395935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Transaction &amp; segment analysis</a:t>
            </a:r>
            <a:endParaRPr lang="en-US" sz="9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29768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41248" y="4279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Copybooks &amp; Metadata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841248" y="44622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Shared structure definitions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4572000" y="1261872"/>
            <a:ext cx="4251960" cy="356616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4572000" y="1261872"/>
            <a:ext cx="54864" cy="35661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47548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CD4"/>
                </a:solidFill>
              </a:rPr>
              <a:t>AUTOMATED AI EXTRACTION</a:t>
            </a:r>
            <a:endParaRPr lang="en-US" sz="9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1783080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074920" y="17647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Dependency Analysis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5074920" y="19476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Full cross-program dependency graphs</a:t>
            </a:r>
            <a:endParaRPr lang="en-US" sz="9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2286000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074920" y="22677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MQ Queue Lineage</a:t>
            </a:r>
            <a:endParaRPr lang="en-US" sz="1050" dirty="0"/>
          </a:p>
        </p:txBody>
      </p:sp>
      <p:sp>
        <p:nvSpPr>
          <p:cNvPr id="35" name="Text 25"/>
          <p:cNvSpPr/>
          <p:nvPr/>
        </p:nvSpPr>
        <p:spPr>
          <a:xfrm>
            <a:off x="5074920" y="24505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Producer → consumer flow mapping</a:t>
            </a:r>
            <a:endParaRPr lang="en-US" sz="9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2788920"/>
            <a:ext cx="274320" cy="27432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074920" y="27706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IMS Transaction Mapping</a:t>
            </a:r>
            <a:endParaRPr lang="en-US" sz="1050" dirty="0"/>
          </a:p>
        </p:txBody>
      </p:sp>
      <p:sp>
        <p:nvSpPr>
          <p:cNvPr id="38" name="Text 27"/>
          <p:cNvSpPr/>
          <p:nvPr/>
        </p:nvSpPr>
        <p:spPr>
          <a:xfrm>
            <a:off x="5074920" y="29535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Transaction to segment relationship</a:t>
            </a:r>
            <a:endParaRPr lang="en-US" sz="9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9160" y="3291840"/>
            <a:ext cx="274320" cy="27432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074920" y="32735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DB2 CRUD Lineage</a:t>
            </a:r>
            <a:endParaRPr lang="en-US" sz="1050" dirty="0"/>
          </a:p>
        </p:txBody>
      </p:sp>
      <p:sp>
        <p:nvSpPr>
          <p:cNvPr id="41" name="Text 29"/>
          <p:cNvSpPr/>
          <p:nvPr/>
        </p:nvSpPr>
        <p:spPr>
          <a:xfrm>
            <a:off x="5074920" y="34564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Table-level INSERT/UPDATE/DELETE tracking</a:t>
            </a:r>
            <a:endParaRPr lang="en-US" sz="90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9160" y="3794760"/>
            <a:ext cx="274320" cy="27432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074920" y="37764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JCL Orchestration</a:t>
            </a:r>
            <a:endParaRPr lang="en-US" sz="1050" dirty="0"/>
          </a:p>
        </p:txBody>
      </p:sp>
      <p:sp>
        <p:nvSpPr>
          <p:cNvPr id="44" name="Text 31"/>
          <p:cNvSpPr/>
          <p:nvPr/>
        </p:nvSpPr>
        <p:spPr>
          <a:xfrm>
            <a:off x="5074920" y="39593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JOB/EXEC step-sequencing intelligence</a:t>
            </a:r>
            <a:endParaRPr lang="en-US" sz="90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9160" y="4297680"/>
            <a:ext cx="274320" cy="274320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5074920" y="42793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Business Rule Extraction</a:t>
            </a:r>
            <a:endParaRPr lang="en-US" sz="1050" dirty="0"/>
          </a:p>
        </p:txBody>
      </p:sp>
      <p:sp>
        <p:nvSpPr>
          <p:cNvPr id="47" name="Text 33"/>
          <p:cNvSpPr/>
          <p:nvPr/>
        </p:nvSpPr>
        <p:spPr>
          <a:xfrm>
            <a:off x="5074920" y="44622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AI-discovered functional business rules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32847"/>
          </a:solidFill>
          <a:ln w="19050">
            <a:solidFill>
              <a:srgbClr val="FF3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3621"/>
                </a:solidFill>
              </a:rPr>
              <a:t>PLATFORM DEMO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AI Modernization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4160520" cy="16916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07008"/>
            <a:ext cx="54864" cy="169164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3621"/>
                </a:solidFill>
              </a:rPr>
              <a:t>01</a:t>
            </a:r>
            <a:endParaRPr lang="en-US" sz="2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3898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Asset Ingestion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07568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</a:rPr>
              <a:t>Upload COBOL, JCL, DB2, Copybooks into Delta Lake via Databricks Notebooks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90872" y="1207008"/>
            <a:ext cx="4160520" cy="16916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90872" y="1207008"/>
            <a:ext cx="54864" cy="16916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8032" y="12984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02</a:t>
            </a:r>
            <a:endParaRPr lang="en-US" sz="2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138988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28032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Metadata Extraction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28032" y="207568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</a:rPr>
              <a:t>Python-based parsers extract dependencies, CRUD operations, and orchestration flows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0040" y="3081528"/>
            <a:ext cx="4160520" cy="16916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3081528"/>
            <a:ext cx="54864" cy="169164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31729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4DFF"/>
                </a:solidFill>
              </a:rPr>
              <a:t>03</a:t>
            </a:r>
            <a:endParaRPr lang="en-US" sz="2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3264408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5720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Delta Table Storage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39502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</a:rPr>
              <a:t>Parsed results stored in Delta tables — program_inventory, db2_lineage, jcl_analysis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690872" y="3081528"/>
            <a:ext cx="4160520" cy="16916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90872" y="3081528"/>
            <a:ext cx="54864" cy="169164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28032" y="31729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400"/>
                </a:solidFill>
              </a:rPr>
              <a:t>04</a:t>
            </a:r>
            <a:endParaRPr lang="en-US" sz="2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3264408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28032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 Scoring Engine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828032" y="39502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</a:rPr>
              <a:t>AI generates modernization readiness scores, risk flags, and cloud-readiness index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BCD4"/>
                </a:solidFill>
              </a:rPr>
              <a:t>All pipeline stages run natively on Databricks with Unity Catalog governance and Delta Lake durability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32847"/>
          </a:solidFill>
          <a:ln w="19050">
            <a:solidFill>
              <a:srgbClr val="FF3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3621"/>
                </a:solidFill>
              </a:rPr>
              <a:t>DASHBOARD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Modernization Dashboard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201168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25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CD4"/>
                </a:solidFill>
              </a:rPr>
              <a:t>247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FF8"/>
                </a:solidFill>
              </a:rPr>
              <a:t>Total Programs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FF8"/>
                </a:solidFill>
              </a:rPr>
              <a:t>Analyzed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96312" y="1261872"/>
            <a:ext cx="201168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FF36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325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3621"/>
                </a:solidFill>
              </a:rPr>
              <a:t>89%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96312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FF8"/>
                </a:solidFill>
              </a:rPr>
              <a:t>Dependency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FF8"/>
                </a:solidFill>
              </a:rPr>
              <a:t>Coverage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72584" y="1261872"/>
            <a:ext cx="201168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FFB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1325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400"/>
                </a:solidFill>
              </a:rPr>
              <a:t>34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72584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FF8"/>
                </a:solidFill>
              </a:rPr>
              <a:t>High-Risk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FF8"/>
                </a:solidFill>
              </a:rPr>
              <a:t>Applications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48856" y="1261872"/>
            <a:ext cx="2011680" cy="1051560"/>
          </a:xfrm>
          <a:prstGeom prst="rect">
            <a:avLst/>
          </a:prstGeom>
          <a:solidFill>
            <a:srgbClr val="132847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48856" y="1325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853"/>
                </a:solidFill>
              </a:rPr>
              <a:t>63%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848856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FF8"/>
                </a:solidFill>
              </a:rPr>
              <a:t>Cloud Migration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FF8"/>
                </a:solidFill>
              </a:rPr>
              <a:t>Readiness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468880"/>
            <a:ext cx="4114800" cy="23774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468880"/>
            <a:ext cx="54864" cy="237744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786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3621"/>
                </a:solidFill>
              </a:rPr>
              <a:t>RISK DISTRIBUTION</a:t>
            </a:r>
            <a:endParaRPr lang="en-US" sz="9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2852928"/>
          <a:ext cx="39776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4663440" y="2468880"/>
            <a:ext cx="4160520" cy="23774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2468880"/>
            <a:ext cx="54864" cy="2377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5786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CD4"/>
                </a:solidFill>
              </a:rPr>
              <a:t>MIGRATION READINESS BY ASSET TYPE</a:t>
            </a:r>
            <a:endParaRPr lang="en-US" sz="900" dirty="0"/>
          </a:p>
        </p:txBody>
      </p:sp>
      <p:graphicFrame>
        <p:nvGraphicFramePr>
          <p:cNvPr id="25" name="Chart 1" descr=""/>
          <p:cNvGraphicFramePr/>
          <p:nvPr/>
        </p:nvGraphicFramePr>
        <p:xfrm>
          <a:off x="4709160" y="2852928"/>
          <a:ext cx="39776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32847"/>
          </a:solidFill>
          <a:ln w="19050">
            <a:solidFill>
              <a:srgbClr val="FF3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3621"/>
                </a:solidFill>
              </a:rPr>
              <a:t>ENTERPRISE UI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Enterprise Modernization Application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743200" cy="1664208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27432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4173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9768" y="184708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Executive KPI Dashboard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" y="2167128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Modernization metrics, file distribution, risk overview and migration readiness at a glance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27832" y="1234440"/>
            <a:ext cx="2743200" cy="1664208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27832" y="1234440"/>
            <a:ext cx="2743200" cy="5486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14173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184708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Conversational AI Assistant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37560" y="2167128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Natural language queries — ask 'Which apps are high-risk?' and get AI-driven insights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35624" y="1234440"/>
            <a:ext cx="2743200" cy="1664208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35624" y="1234440"/>
            <a:ext cx="2743200" cy="54864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4173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45352" y="184708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Teams Alert Center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45352" y="2167128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One-click governance alert dispatch to Microsoft Teams channels via Power Automate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20040" y="3063240"/>
            <a:ext cx="2743200" cy="1664208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3063240"/>
            <a:ext cx="2743200" cy="54864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2461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29768" y="367588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 Intelligence Center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29768" y="3995928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Interactive risk drill-down with remediation recommendations and AI-generated action plans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227832" y="3063240"/>
            <a:ext cx="2743200" cy="1664208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27832" y="3063240"/>
            <a:ext cx="27432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324612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337560" y="367588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DB2 Lineage Explorer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337560" y="3995928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Visual CRUD lineage maps showing INSERT/UPDATE/DELETE flows across all DB2 tables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135624" y="3063240"/>
            <a:ext cx="2743200" cy="1664208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35624" y="3063240"/>
            <a:ext cx="27432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324612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245352" y="367588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JCL Orchestration View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245352" y="3995928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Batch job dependency graphs, EXEC step sequencing and complex workflow identification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320040" y="4901184"/>
            <a:ext cx="8503920" cy="137160"/>
          </a:xfrm>
          <a:prstGeom prst="rect">
            <a:avLst/>
          </a:prstGeom>
          <a:solidFill>
            <a:srgbClr val="FF3621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457200" y="4910328"/>
            <a:ext cx="82296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Deployed as a Databricks App  ·  Streamlit  ·  Plotly  ·  Enterprise-Ready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32847"/>
          </a:solidFill>
          <a:ln w="19050">
            <a:solidFill>
              <a:srgbClr val="FF3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3621"/>
                </a:solidFill>
              </a:rPr>
              <a:t>GOVERNANCE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Governance Framework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023360" cy="356616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54864" cy="356616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B400"/>
                </a:solidFill>
              </a:rPr>
              <a:t>GOVERNANCE ALERT FLOW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719072"/>
            <a:ext cx="3566160" cy="548640"/>
          </a:xfrm>
          <a:prstGeom prst="rect">
            <a:avLst/>
          </a:prstGeom>
          <a:solidFill>
            <a:srgbClr val="1A3560"/>
          </a:solidFill>
          <a:ln w="12700">
            <a:solidFill>
              <a:srgbClr val="7C4D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3794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8562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4DFF"/>
                </a:solidFill>
              </a:rPr>
              <a:t>Databricks AI Risk Engine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194560" y="2267712"/>
            <a:ext cx="0" cy="201168"/>
          </a:xfrm>
          <a:prstGeom prst="line">
            <a:avLst/>
          </a:prstGeom>
          <a:noFill/>
          <a:ln w="19050">
            <a:solidFill>
              <a:srgbClr val="4A6B8A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502920" y="2468880"/>
            <a:ext cx="3566160" cy="548640"/>
          </a:xfrm>
          <a:prstGeom prst="rect">
            <a:avLst/>
          </a:prstGeom>
          <a:solidFill>
            <a:srgbClr val="1A3560"/>
          </a:solidFill>
          <a:ln w="12700">
            <a:solidFill>
              <a:srgbClr val="FFB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87752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26060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00"/>
                </a:solidFill>
              </a:rPr>
              <a:t>Zabbix Governance Connector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194560" y="3017520"/>
            <a:ext cx="0" cy="201168"/>
          </a:xfrm>
          <a:prstGeom prst="line">
            <a:avLst/>
          </a:prstGeom>
          <a:noFill/>
          <a:ln w="19050">
            <a:solidFill>
              <a:srgbClr val="4A6B8A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502920" y="3218688"/>
            <a:ext cx="3566160" cy="548640"/>
          </a:xfrm>
          <a:prstGeom prst="rect">
            <a:avLst/>
          </a:prstGeom>
          <a:solidFill>
            <a:srgbClr val="1A3560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37560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335584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Power Automate Workflow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2194560" y="3767328"/>
            <a:ext cx="0" cy="201168"/>
          </a:xfrm>
          <a:prstGeom prst="line">
            <a:avLst/>
          </a:prstGeom>
          <a:noFill/>
          <a:ln w="19050">
            <a:solidFill>
              <a:srgbClr val="4A6B8A"/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502920" y="3968496"/>
            <a:ext cx="3566160" cy="548640"/>
          </a:xfrm>
          <a:prstGeom prst="rect">
            <a:avLst/>
          </a:prstGeom>
          <a:solidFill>
            <a:srgbClr val="1A3560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87368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410565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53"/>
                </a:solidFill>
              </a:rPr>
              <a:t>Microsoft Teams Notification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0" y="1261872"/>
            <a:ext cx="4251960" cy="356616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1261872"/>
            <a:ext cx="54864" cy="356616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754880" y="1371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3621"/>
                </a:solidFill>
              </a:rPr>
              <a:t>REAL-TIME GOVERNANCE ALERTS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709160" y="1719072"/>
            <a:ext cx="393192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FF36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773168" y="1737360"/>
            <a:ext cx="164592" cy="164592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029200" y="17373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621"/>
                </a:solidFill>
              </a:rPr>
              <a:t>High-Risk Modernization Alert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5029200" y="1920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8"/>
                </a:solidFill>
              </a:rPr>
              <a:t>PAYROLL.cbl → HIGH risk — phased modernization recommended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4709160" y="2359152"/>
            <a:ext cx="393192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FFB4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773168" y="2377440"/>
            <a:ext cx="164592" cy="164592"/>
          </a:xfrm>
          <a:prstGeom prst="ellipse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029200" y="23774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400"/>
                </a:solidFill>
              </a:rPr>
              <a:t>DB2 Critical Operation Alert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5029200" y="2560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8"/>
                </a:solidFill>
              </a:rPr>
              <a:t>UPDATE on CUSTOMER_MASTER — impact review required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4709160" y="2999232"/>
            <a:ext cx="393192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773168" y="3017520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029200" y="30175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CD4"/>
                </a:solidFill>
              </a:rPr>
              <a:t>Dependency Escalation Alert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5029200" y="32004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8"/>
                </a:solidFill>
              </a:rPr>
              <a:t>PAYROLL.cbl has 47 dependents — migration blocker flagged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4709160" y="3639312"/>
            <a:ext cx="393192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7C4D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4773168" y="3657600"/>
            <a:ext cx="164592" cy="16459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029200" y="36576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4DFF"/>
                </a:solidFill>
              </a:rPr>
              <a:t>Batch Orchestration Alert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5029200" y="3840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8"/>
                </a:solidFill>
              </a:rPr>
              <a:t>JOB001.jcl complex orchestration — sequencing review needed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4709160" y="4279392"/>
            <a:ext cx="3931920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FF36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4773168" y="4297680"/>
            <a:ext cx="164592" cy="164592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029200" y="4297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621"/>
                </a:solidFill>
              </a:rPr>
              <a:t>Migration Blocker Notification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5029200" y="4480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FF8"/>
                </a:solidFill>
              </a:rPr>
              <a:t>IMS segment CUSTDB linked to 12 programs — plan required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32847"/>
          </a:solidFill>
          <a:ln w="19050">
            <a:solidFill>
              <a:srgbClr val="FF3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3621"/>
                </a:solidFill>
              </a:rPr>
              <a:t>BUSINESS VALUE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Enterprise Value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2743200" cy="1280160"/>
          </a:xfrm>
          <a:prstGeom prst="rect">
            <a:avLst/>
          </a:prstGeom>
          <a:solidFill>
            <a:srgbClr val="132847"/>
          </a:solidFill>
          <a:ln w="12700">
            <a:solidFill>
              <a:srgbClr val="FF36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2743200" cy="4572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3621"/>
                </a:solidFill>
              </a:rPr>
              <a:t>85%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2011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Faster Modernization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Assessment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261872"/>
            <a:ext cx="2743200" cy="1280160"/>
          </a:xfrm>
          <a:prstGeom prst="rect">
            <a:avLst/>
          </a:prstGeom>
          <a:solidFill>
            <a:srgbClr val="132847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261872"/>
            <a:ext cx="27432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CD4"/>
                </a:solidFill>
              </a:rPr>
              <a:t>70%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27832" y="2011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Reduction in Manual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Dependency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35624" y="1261872"/>
            <a:ext cx="2743200" cy="1280160"/>
          </a:xfrm>
          <a:prstGeom prst="rect">
            <a:avLst/>
          </a:prstGeom>
          <a:solidFill>
            <a:srgbClr val="132847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35624" y="1261872"/>
            <a:ext cx="2743200" cy="457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853"/>
                </a:solidFill>
              </a:rPr>
              <a:t>Real-Time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35624" y="2011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AI Governance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FF8"/>
                </a:solidFill>
              </a:rPr>
              <a:t>Visibility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807208"/>
            <a:ext cx="256032" cy="25603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67512" y="2743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Faster Cloud Migration Readiness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67512" y="29992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AI scoring accelerates go/no-go decisions for cloud-first transformation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807208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038344" y="2743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Reduced Manual Documentation Effort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038344" y="29992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Automated lineage &amp; dependency extraction replaces weeks of manual work</a:t>
            </a:r>
            <a:endParaRPr lang="en-US" sz="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65576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7512" y="3401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Improved Impact Analysis Accuracy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67512" y="3657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AI-assisted analysis reduces errors in dependency and risk mapping</a:t>
            </a:r>
            <a:endParaRPr lang="en-US" sz="9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3465576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038344" y="3401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AI-Assisted Governance Monitoring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038344" y="3657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Real-time alerts prevent governance failures before they escalate</a:t>
            </a:r>
            <a:endParaRPr lang="en-US" sz="9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123944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67512" y="40599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Accelerated Cloud/API Transformation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667512" y="43159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Readiness scoring identifies optimal migration candidates faster</a:t>
            </a:r>
            <a:endParaRPr lang="en-US" sz="9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872" y="412394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038344" y="40599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Enterprise Risk Visibility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038344" y="43159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BC8"/>
                </a:solidFill>
              </a:rPr>
              <a:t>Executive dashboards deliver 360° modernization risk oversight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32847"/>
          </a:solidFill>
          <a:ln w="19050">
            <a:solidFill>
              <a:srgbClr val="FF36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3621"/>
                </a:solidFill>
              </a:rPr>
              <a:t>FUTURE &amp; CLOSING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303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 &amp; Closing Statement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2743200" cy="23774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2743200" cy="4572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621"/>
                </a:solidFill>
              </a:rPr>
              <a:t>Q3 2026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4708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182880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</a:rPr>
              <a:t>Multi-agent modernization orchestration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1401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23957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</a:rPr>
              <a:t>Real-time Unity Catalog integration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27832" y="1261872"/>
            <a:ext cx="2743200" cy="23774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27832" y="1261872"/>
            <a:ext cx="27432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27832" y="1371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CD4"/>
                </a:solidFill>
              </a:rPr>
              <a:t>Q4 2026</a:t>
            </a:r>
            <a:endParaRPr lang="en-US" sz="1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184708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39312" y="182880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</a:rPr>
              <a:t>Live COBOL/MQ/IMS upload analysis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41401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639312" y="23957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</a:rPr>
              <a:t>LLM-powered remediation generation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135624" y="1261872"/>
            <a:ext cx="2743200" cy="237744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135624" y="1261872"/>
            <a:ext cx="2743200" cy="4572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135624" y="1371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4DFF"/>
                </a:solidFill>
              </a:rPr>
              <a:t>Q1 2027</a:t>
            </a:r>
            <a:endParaRPr lang="en-US" sz="15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847088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547104" y="182880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</a:rPr>
              <a:t>Automated migration blueprint creation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2414016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547104" y="23957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8"/>
                </a:solidFill>
              </a:rPr>
              <a:t>Advanced dependency graph visualization (Sankey)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320040" y="3822192"/>
            <a:ext cx="8503920" cy="868680"/>
          </a:xfrm>
          <a:prstGeom prst="rect">
            <a:avLst/>
          </a:prstGeom>
          <a:solidFill>
            <a:srgbClr val="132847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320040" y="3822192"/>
            <a:ext cx="54864" cy="86868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502920" y="3895344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FF8"/>
                </a:solidFill>
              </a:rPr>
              <a:t>CodeGenome AI transforms enterprise modernization from a manual assessment process into an AI-driven modernization intelligence and governance platform — built on Databricks.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F3621"/>
          </a:solidFill>
          <a:ln w="12700">
            <a:solidFill>
              <a:srgbClr val="1A3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3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Thank You  ·  </a:t>
            </a:r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CodeGenome Innovators  ·  Databricks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CodeGenome AI Modernization Intelligence Hub</dc:title>
  <dc:subject>Databricks Hackathon 2026</dc:subject>
  <dc:creator>CodeGenome Innovators</dc:creator>
  <cp:lastModifiedBy>CodeGenome Innovators</cp:lastModifiedBy>
  <cp:revision>1</cp:revision>
  <dcterms:created xsi:type="dcterms:W3CDTF">2026-05-24T08:39:08Z</dcterms:created>
  <dcterms:modified xsi:type="dcterms:W3CDTF">2026-05-24T08:39:08Z</dcterms:modified>
</cp:coreProperties>
</file>